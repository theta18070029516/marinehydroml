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ollon HU" initials="HH" lastIdx="1" clrIdx="0">
    <p:extLst>
      <p:ext uri="{19B8F6BF-5375-455C-9EA6-DF929625EA0E}">
        <p15:presenceInfo xmlns:p15="http://schemas.microsoft.com/office/powerpoint/2012/main" userId="53579804bab1936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96" y="6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FE_1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5197321A-E51E-4BF6-A5E9-24F480BE1D9C}"/>
              </a:ext>
            </a:extLst>
          </p:cNvPr>
          <p:cNvGrpSpPr/>
          <p:nvPr/>
        </p:nvGrpSpPr>
        <p:grpSpPr>
          <a:xfrm>
            <a:off x="1744980" y="944058"/>
            <a:ext cx="1800000" cy="1800000"/>
            <a:chOff x="3735705" y="2325183"/>
            <a:chExt cx="1800000" cy="1800000"/>
          </a:xfrm>
        </p:grpSpPr>
        <p:sp>
          <p:nvSpPr>
            <p:cNvPr id="2" name="任意多边形: 形状 1">
              <a:extLst>
                <a:ext uri="{FF2B5EF4-FFF2-40B4-BE49-F238E27FC236}">
                  <a16:creationId xmlns:a16="http://schemas.microsoft.com/office/drawing/2014/main" id="{33C3FB56-ED3D-EB45-2BA4-BA287306471D}"/>
                </a:ext>
              </a:extLst>
            </p:cNvPr>
            <p:cNvSpPr/>
            <p:nvPr/>
          </p:nvSpPr>
          <p:spPr>
            <a:xfrm>
              <a:off x="3735705" y="2325183"/>
              <a:ext cx="1800000" cy="1800000"/>
            </a:xfrm>
            <a:custGeom>
              <a:avLst/>
              <a:gdLst>
                <a:gd name="csX0" fmla="*/ 899683 w 1800000"/>
                <a:gd name="csY0" fmla="*/ 0 h 1800000"/>
                <a:gd name="csX1" fmla="*/ 1800000 w 1800000"/>
                <a:gd name="csY1" fmla="*/ 899683 h 1800000"/>
                <a:gd name="csX2" fmla="*/ 899683 w 1800000"/>
                <a:gd name="csY2" fmla="*/ 1800000 h 1800000"/>
                <a:gd name="csX3" fmla="*/ 0 w 1800000"/>
                <a:gd name="csY3" fmla="*/ 899683 h 1800000"/>
                <a:gd name="csX4" fmla="*/ 899683 w 1800000"/>
                <a:gd name="csY4" fmla="*/ 0 h 1800000"/>
                <a:gd name="csX5" fmla="*/ 899683 w 1800000"/>
                <a:gd name="csY5" fmla="*/ 720000 h 1800000"/>
                <a:gd name="csX6" fmla="*/ 720000 w 1800000"/>
                <a:gd name="csY6" fmla="*/ 899683 h 1800000"/>
                <a:gd name="csX7" fmla="*/ 772699 w 1800000"/>
                <a:gd name="csY7" fmla="*/ 1027222 h 1800000"/>
                <a:gd name="csX8" fmla="*/ 772753 w 1800000"/>
                <a:gd name="csY8" fmla="*/ 1027259 h 1800000"/>
                <a:gd name="csX9" fmla="*/ 829822 w 1800000"/>
                <a:gd name="csY9" fmla="*/ 1065843 h 1800000"/>
                <a:gd name="csX10" fmla="*/ 899683 w 1800000"/>
                <a:gd name="csY10" fmla="*/ 1080000 h 1800000"/>
                <a:gd name="csX11" fmla="*/ 1080000 w 1800000"/>
                <a:gd name="csY11" fmla="*/ 899683 h 1800000"/>
                <a:gd name="csX12" fmla="*/ 1065843 w 1800000"/>
                <a:gd name="csY12" fmla="*/ 829822 h 1800000"/>
                <a:gd name="csX13" fmla="*/ 1027259 w 1800000"/>
                <a:gd name="csY13" fmla="*/ 772753 h 1800000"/>
                <a:gd name="csX14" fmla="*/ 1027222 w 1800000"/>
                <a:gd name="csY14" fmla="*/ 772699 h 1800000"/>
                <a:gd name="csX15" fmla="*/ 899683 w 1800000"/>
                <a:gd name="csY15" fmla="*/ 720000 h 180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1800000" h="1800000">
                  <a:moveTo>
                    <a:pt x="899683" y="0"/>
                  </a:moveTo>
                  <a:cubicBezTo>
                    <a:pt x="1396826" y="0"/>
                    <a:pt x="1800000" y="403175"/>
                    <a:pt x="1800000" y="899683"/>
                  </a:cubicBezTo>
                  <a:cubicBezTo>
                    <a:pt x="1800000" y="1396826"/>
                    <a:pt x="1396826" y="1800000"/>
                    <a:pt x="899683" y="1800000"/>
                  </a:cubicBezTo>
                  <a:cubicBezTo>
                    <a:pt x="403175" y="1800000"/>
                    <a:pt x="0" y="1396826"/>
                    <a:pt x="0" y="899683"/>
                  </a:cubicBezTo>
                  <a:cubicBezTo>
                    <a:pt x="0" y="403175"/>
                    <a:pt x="403175" y="0"/>
                    <a:pt x="899683" y="0"/>
                  </a:cubicBezTo>
                  <a:close/>
                  <a:moveTo>
                    <a:pt x="899683" y="720000"/>
                  </a:moveTo>
                  <a:cubicBezTo>
                    <a:pt x="800635" y="720000"/>
                    <a:pt x="720000" y="800635"/>
                    <a:pt x="720000" y="899683"/>
                  </a:cubicBezTo>
                  <a:cubicBezTo>
                    <a:pt x="720000" y="949524"/>
                    <a:pt x="740159" y="994603"/>
                    <a:pt x="772699" y="1027222"/>
                  </a:cubicBezTo>
                  <a:lnTo>
                    <a:pt x="772753" y="1027259"/>
                  </a:lnTo>
                  <a:lnTo>
                    <a:pt x="829822" y="1065843"/>
                  </a:lnTo>
                  <a:cubicBezTo>
                    <a:pt x="851310" y="1074960"/>
                    <a:pt x="874921" y="1080000"/>
                    <a:pt x="899683" y="1080000"/>
                  </a:cubicBezTo>
                  <a:cubicBezTo>
                    <a:pt x="999365" y="1080000"/>
                    <a:pt x="1080000" y="999365"/>
                    <a:pt x="1080000" y="899683"/>
                  </a:cubicBezTo>
                  <a:cubicBezTo>
                    <a:pt x="1080000" y="874921"/>
                    <a:pt x="1074961" y="851310"/>
                    <a:pt x="1065843" y="829822"/>
                  </a:cubicBezTo>
                  <a:lnTo>
                    <a:pt x="1027259" y="772753"/>
                  </a:lnTo>
                  <a:lnTo>
                    <a:pt x="1027222" y="772699"/>
                  </a:lnTo>
                  <a:cubicBezTo>
                    <a:pt x="994603" y="740159"/>
                    <a:pt x="949524" y="720000"/>
                    <a:pt x="899683" y="72000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E0F5597-4F48-C113-2E9A-B5445DF16813}"/>
                </a:ext>
              </a:extLst>
            </p:cNvPr>
            <p:cNvSpPr/>
            <p:nvPr/>
          </p:nvSpPr>
          <p:spPr>
            <a:xfrm>
              <a:off x="4455705" y="3045183"/>
              <a:ext cx="360000" cy="360000"/>
            </a:xfrm>
            <a:prstGeom prst="ellipse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76BEE72-2D71-331C-2202-4CF6FE2D1623}"/>
              </a:ext>
            </a:extLst>
          </p:cNvPr>
          <p:cNvCxnSpPr/>
          <p:nvPr/>
        </p:nvCxnSpPr>
        <p:spPr>
          <a:xfrm>
            <a:off x="895350" y="1844058"/>
            <a:ext cx="36576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F94D095-ED99-72B7-4863-951D7FE39737}"/>
              </a:ext>
            </a:extLst>
          </p:cNvPr>
          <p:cNvCxnSpPr>
            <a:cxnSpLocks/>
          </p:cNvCxnSpPr>
          <p:nvPr/>
        </p:nvCxnSpPr>
        <p:spPr>
          <a:xfrm flipV="1">
            <a:off x="2644980" y="435358"/>
            <a:ext cx="0" cy="28174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C0C8109-5DB2-284D-7F4A-A32D59BA8DEA}"/>
              </a:ext>
            </a:extLst>
          </p:cNvPr>
          <p:cNvCxnSpPr>
            <a:cxnSpLocks/>
            <a:endCxn id="4" idx="7"/>
          </p:cNvCxnSpPr>
          <p:nvPr/>
        </p:nvCxnSpPr>
        <p:spPr>
          <a:xfrm flipV="1">
            <a:off x="2644980" y="1716779"/>
            <a:ext cx="127279" cy="127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4404372-A616-5363-958A-19F8AF87C3F0}"/>
              </a:ext>
            </a:extLst>
          </p:cNvPr>
          <p:cNvCxnSpPr>
            <a:cxnSpLocks/>
          </p:cNvCxnSpPr>
          <p:nvPr/>
        </p:nvCxnSpPr>
        <p:spPr>
          <a:xfrm flipH="1" flipV="1">
            <a:off x="2076450" y="1155358"/>
            <a:ext cx="568529" cy="688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D77A5C0-30AE-8FA9-4C8B-9FE18B20505A}"/>
                  </a:ext>
                </a:extLst>
              </p:cNvPr>
              <p:cNvSpPr txBox="1"/>
              <p:nvPr/>
            </p:nvSpPr>
            <p:spPr>
              <a:xfrm>
                <a:off x="2819134" y="1609057"/>
                <a:ext cx="18389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D77A5C0-30AE-8FA9-4C8B-9FE18B205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134" y="1609057"/>
                <a:ext cx="183896" cy="215444"/>
              </a:xfrm>
              <a:prstGeom prst="rect">
                <a:avLst/>
              </a:prstGeom>
              <a:blipFill>
                <a:blip r:embed="rId2"/>
                <a:stretch>
                  <a:fillRect l="-12903" r="-3226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D35555D-564A-BCF8-5EEF-6C77F8536330}"/>
                  </a:ext>
                </a:extLst>
              </p:cNvPr>
              <p:cNvSpPr txBox="1"/>
              <p:nvPr/>
            </p:nvSpPr>
            <p:spPr>
              <a:xfrm>
                <a:off x="2172650" y="1047635"/>
                <a:ext cx="18806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D35555D-564A-BCF8-5EEF-6C77F8536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650" y="1047635"/>
                <a:ext cx="188064" cy="215444"/>
              </a:xfrm>
              <a:prstGeom prst="rect">
                <a:avLst/>
              </a:prstGeom>
              <a:blipFill>
                <a:blip r:embed="rId3"/>
                <a:stretch>
                  <a:fillRect l="-12903" r="-6452" b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06C4A3C-E74F-C151-4D1D-56A78C9FD7FB}"/>
                  </a:ext>
                </a:extLst>
              </p:cNvPr>
              <p:cNvSpPr txBox="1"/>
              <p:nvPr/>
            </p:nvSpPr>
            <p:spPr>
              <a:xfrm>
                <a:off x="4444980" y="1863616"/>
                <a:ext cx="14170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06C4A3C-E74F-C151-4D1D-56A78C9FD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980" y="1863616"/>
                <a:ext cx="141705" cy="215444"/>
              </a:xfrm>
              <a:prstGeom prst="rect">
                <a:avLst/>
              </a:prstGeom>
              <a:blipFill>
                <a:blip r:embed="rId4"/>
                <a:stretch>
                  <a:fillRect l="-17391" r="-13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1E3474C-AC4D-2F83-3921-187129AD42B7}"/>
                  </a:ext>
                </a:extLst>
              </p:cNvPr>
              <p:cNvSpPr txBox="1"/>
              <p:nvPr/>
            </p:nvSpPr>
            <p:spPr>
              <a:xfrm>
                <a:off x="2700188" y="396115"/>
                <a:ext cx="14414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B1E3474C-AC4D-2F83-3921-187129AD4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188" y="396115"/>
                <a:ext cx="144142" cy="215444"/>
              </a:xfrm>
              <a:prstGeom prst="rect">
                <a:avLst/>
              </a:prstGeom>
              <a:blipFill>
                <a:blip r:embed="rId5"/>
                <a:stretch>
                  <a:fillRect l="-33333" r="-20833" b="-2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7B6EA49-947A-846B-1889-CEC96CCD3467}"/>
                  </a:ext>
                </a:extLst>
              </p:cNvPr>
              <p:cNvSpPr txBox="1"/>
              <p:nvPr/>
            </p:nvSpPr>
            <p:spPr>
              <a:xfrm>
                <a:off x="5743575" y="944058"/>
                <a:ext cx="15503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7B6EA49-947A-846B-1889-CEC96CCD3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575" y="944058"/>
                <a:ext cx="1550361" cy="276999"/>
              </a:xfrm>
              <a:prstGeom prst="rect">
                <a:avLst/>
              </a:prstGeom>
              <a:blipFill>
                <a:blip r:embed="rId6"/>
                <a:stretch>
                  <a:fillRect l="-3137" t="-2222" r="-4314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F9B4DE5-68AC-CA3F-E2EE-60F45E49FD8E}"/>
                  </a:ext>
                </a:extLst>
              </p:cNvPr>
              <p:cNvSpPr txBox="1"/>
              <p:nvPr/>
            </p:nvSpPr>
            <p:spPr>
              <a:xfrm>
                <a:off x="5743575" y="1484941"/>
                <a:ext cx="2507738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F9B4DE5-68AC-CA3F-E2EE-60F45E49F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575" y="1484941"/>
                <a:ext cx="2507738" cy="5266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8A9DE49-DF35-D31C-6534-5828AFEA13F3}"/>
                  </a:ext>
                </a:extLst>
              </p:cNvPr>
              <p:cNvSpPr txBox="1"/>
              <p:nvPr/>
            </p:nvSpPr>
            <p:spPr>
              <a:xfrm>
                <a:off x="5743575" y="2240985"/>
                <a:ext cx="16842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=0,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8A9DE49-DF35-D31C-6534-5828AFEA1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575" y="2240985"/>
                <a:ext cx="1684244" cy="276999"/>
              </a:xfrm>
              <a:prstGeom prst="rect">
                <a:avLst/>
              </a:prstGeom>
              <a:blipFill>
                <a:blip r:embed="rId8"/>
                <a:stretch>
                  <a:fillRect l="-2536" r="-3261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左大括号 34">
            <a:extLst>
              <a:ext uri="{FF2B5EF4-FFF2-40B4-BE49-F238E27FC236}">
                <a16:creationId xmlns:a16="http://schemas.microsoft.com/office/drawing/2014/main" id="{5DFEB1BF-0527-812D-EA23-855183B78258}"/>
              </a:ext>
            </a:extLst>
          </p:cNvPr>
          <p:cNvSpPr/>
          <p:nvPr/>
        </p:nvSpPr>
        <p:spPr>
          <a:xfrm>
            <a:off x="5233080" y="1013109"/>
            <a:ext cx="339000" cy="1470345"/>
          </a:xfrm>
          <a:prstGeom prst="leftBrace">
            <a:avLst>
              <a:gd name="adj1" fmla="val 50576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1D0524C-3E22-FCC3-638B-4BA85FBD8DA1}"/>
              </a:ext>
            </a:extLst>
          </p:cNvPr>
          <p:cNvSpPr txBox="1"/>
          <p:nvPr/>
        </p:nvSpPr>
        <p:spPr>
          <a:xfrm>
            <a:off x="4727912" y="306809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硬编码边界条件：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FC27C03-73C4-4B5D-CFA3-9B97FBEDD211}"/>
                  </a:ext>
                </a:extLst>
              </p:cNvPr>
              <p:cNvSpPr txBox="1"/>
              <p:nvPr/>
            </p:nvSpPr>
            <p:spPr>
              <a:xfrm>
                <a:off x="6585697" y="3102622"/>
                <a:ext cx="47003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𝐵𝑁𝑁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𝐵𝑁𝑁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FC27C03-73C4-4B5D-CFA3-9B97FBEDD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5697" y="3102622"/>
                <a:ext cx="4700389" cy="276999"/>
              </a:xfrm>
              <a:prstGeom prst="rect">
                <a:avLst/>
              </a:prstGeom>
              <a:blipFill>
                <a:blip r:embed="rId9"/>
                <a:stretch>
                  <a:fillRect l="-778" t="-2222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78FEE4BD-B692-F029-9102-7F12F4944B37}"/>
              </a:ext>
            </a:extLst>
          </p:cNvPr>
          <p:cNvSpPr txBox="1"/>
          <p:nvPr/>
        </p:nvSpPr>
        <p:spPr>
          <a:xfrm>
            <a:off x="319206" y="25069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方程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9F35C522-6361-A1F0-516F-4FCCEE1BCF9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371" y="4152758"/>
            <a:ext cx="3381375" cy="234315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D763E27B-FE3D-67C1-3119-5C97FA58249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02417" y="4152758"/>
            <a:ext cx="2600325" cy="2238375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401DFE31-92F6-A3B1-8AB6-5AD0A5D927C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8755" y="3750934"/>
            <a:ext cx="2286000" cy="3067050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DD732919-4F31-5B70-BA59-E4526BD2580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98091" y="3814620"/>
            <a:ext cx="2495550" cy="2914650"/>
          </a:xfrm>
          <a:prstGeom prst="rect">
            <a:avLst/>
          </a:prstGeom>
        </p:spPr>
      </p:pic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A6AEF753-E576-66C5-1392-C257BB4C3766}"/>
              </a:ext>
            </a:extLst>
          </p:cNvPr>
          <p:cNvCxnSpPr/>
          <p:nvPr/>
        </p:nvCxnSpPr>
        <p:spPr>
          <a:xfrm>
            <a:off x="3952875" y="3814620"/>
            <a:ext cx="0" cy="291465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64C68D13-C1B2-D4BB-9618-1A67A4DBC9B6}"/>
              </a:ext>
            </a:extLst>
          </p:cNvPr>
          <p:cNvCxnSpPr/>
          <p:nvPr/>
        </p:nvCxnSpPr>
        <p:spPr>
          <a:xfrm>
            <a:off x="6518755" y="3827134"/>
            <a:ext cx="0" cy="291465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01FD9AF0-19F1-CC54-E5C2-5C153C32FA2C}"/>
              </a:ext>
            </a:extLst>
          </p:cNvPr>
          <p:cNvCxnSpPr/>
          <p:nvPr/>
        </p:nvCxnSpPr>
        <p:spPr>
          <a:xfrm>
            <a:off x="9067800" y="3814620"/>
            <a:ext cx="0" cy="291465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22B5A3DB-1CA6-BE17-31C4-3F4D585821D1}"/>
              </a:ext>
            </a:extLst>
          </p:cNvPr>
          <p:cNvSpPr txBox="1"/>
          <p:nvPr/>
        </p:nvSpPr>
        <p:spPr>
          <a:xfrm>
            <a:off x="459629" y="3734730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Source Code Pro SemiBold" panose="020B0309030403020204" pitchFamily="49" charset="0"/>
                <a:ea typeface="Source Code Pro SemiBold" panose="020B0309030403020204" pitchFamily="49" charset="0"/>
              </a:rPr>
              <a:t>config</a:t>
            </a:r>
            <a:endParaRPr lang="zh-CN" altLang="en-US" dirty="0">
              <a:latin typeface="Source Code Pro SemiBold" panose="020B03090304030202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255A22D-6CE8-1041-09BD-61D45AF133AC}"/>
              </a:ext>
            </a:extLst>
          </p:cNvPr>
          <p:cNvSpPr txBox="1"/>
          <p:nvPr/>
        </p:nvSpPr>
        <p:spPr>
          <a:xfrm>
            <a:off x="304800" y="257175"/>
            <a:ext cx="4078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问题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PCA</a:t>
            </a:r>
            <a:r>
              <a:rPr lang="zh-CN" altLang="en-US" dirty="0"/>
              <a:t> </a:t>
            </a:r>
            <a:r>
              <a:rPr lang="en-US" altLang="zh-CN" dirty="0"/>
              <a:t>P</a:t>
            </a:r>
            <a:r>
              <a:rPr lang="zh-CN" altLang="en-US" dirty="0"/>
              <a:t> 和 </a:t>
            </a:r>
            <a:r>
              <a:rPr lang="en-US" altLang="zh-CN" dirty="0"/>
              <a:t>f </a:t>
            </a:r>
            <a:r>
              <a:rPr lang="zh-CN" altLang="en-US" dirty="0"/>
              <a:t>所需要的基函数不同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F45EE8-9997-3E49-2C2F-17BF1ED51F1E}"/>
              </a:ext>
            </a:extLst>
          </p:cNvPr>
          <p:cNvSpPr txBox="1"/>
          <p:nvPr/>
        </p:nvSpPr>
        <p:spPr>
          <a:xfrm>
            <a:off x="304800" y="923925"/>
            <a:ext cx="6606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目前我是分别对 </a:t>
            </a:r>
            <a:r>
              <a:rPr lang="en-US" altLang="zh-CN" dirty="0"/>
              <a:t>P </a:t>
            </a:r>
            <a:r>
              <a:rPr lang="zh-CN" altLang="en-US" dirty="0"/>
              <a:t>和 </a:t>
            </a:r>
            <a:r>
              <a:rPr lang="en-US" altLang="zh-CN" dirty="0"/>
              <a:t>f </a:t>
            </a:r>
            <a:r>
              <a:rPr lang="zh-CN" altLang="en-US" dirty="0"/>
              <a:t>做 </a:t>
            </a:r>
            <a:r>
              <a:rPr lang="en-US" altLang="zh-CN" dirty="0"/>
              <a:t>PCA </a:t>
            </a:r>
            <a:r>
              <a:rPr lang="zh-CN" altLang="en-US" dirty="0"/>
              <a:t>得到各自的系数，方差衰减如图。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D6FE8F0-1D57-9DAB-BBD7-F6F0D740F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90675"/>
            <a:ext cx="2880000" cy="196146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1218715-1A22-CFB8-17C5-B5B7334E1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1590675"/>
            <a:ext cx="2964587" cy="196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ECC3606-3CA4-9486-3884-61CDBDBF8314}"/>
                  </a:ext>
                </a:extLst>
              </p:cNvPr>
              <p:cNvSpPr txBox="1"/>
              <p:nvPr/>
            </p:nvSpPr>
            <p:spPr>
              <a:xfrm>
                <a:off x="2581275" y="1724025"/>
                <a:ext cx="20120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ECC3606-3CA4-9486-3884-61CDBDBF8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1275" y="1724025"/>
                <a:ext cx="201209" cy="276999"/>
              </a:xfrm>
              <a:prstGeom prst="rect">
                <a:avLst/>
              </a:prstGeom>
              <a:blipFill>
                <a:blip r:embed="rId4"/>
                <a:stretch>
                  <a:fillRect l="-27273" r="-27273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225361D-4ED9-A5F6-42E5-B06CE6156374}"/>
                  </a:ext>
                </a:extLst>
              </p:cNvPr>
              <p:cNvSpPr txBox="1"/>
              <p:nvPr/>
            </p:nvSpPr>
            <p:spPr>
              <a:xfrm>
                <a:off x="6162675" y="1724025"/>
                <a:ext cx="201209" cy="2779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0225361D-4ED9-A5F6-42E5-B06CE6156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675" y="1724025"/>
                <a:ext cx="201209" cy="277961"/>
              </a:xfrm>
              <a:prstGeom prst="rect">
                <a:avLst/>
              </a:prstGeom>
              <a:blipFill>
                <a:blip r:embed="rId5"/>
                <a:stretch>
                  <a:fillRect l="-36364" t="-2222" r="-36364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48F14890-C32A-C9B7-2FB8-BD7016118B5F}"/>
              </a:ext>
            </a:extLst>
          </p:cNvPr>
          <p:cNvSpPr txBox="1"/>
          <p:nvPr/>
        </p:nvSpPr>
        <p:spPr>
          <a:xfrm>
            <a:off x="6601764" y="1677858"/>
            <a:ext cx="5846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方差衰减不一致，需要用不同维度的</a:t>
            </a:r>
            <a:r>
              <a:rPr lang="en-US" altLang="zh-CN" dirty="0"/>
              <a:t>PCA</a:t>
            </a:r>
            <a:r>
              <a:rPr lang="zh-CN" altLang="en-US" dirty="0"/>
              <a:t>系数分别表示。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2531ACC-8C97-AAD6-3363-BD84C776ADE2}"/>
              </a:ext>
            </a:extLst>
          </p:cNvPr>
          <p:cNvSpPr txBox="1"/>
          <p:nvPr/>
        </p:nvSpPr>
        <p:spPr>
          <a:xfrm>
            <a:off x="6603318" y="2074809"/>
            <a:ext cx="528388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目前我设置在 </a:t>
            </a:r>
            <a:r>
              <a:rPr lang="en-US" altLang="zh-CN" dirty="0"/>
              <a:t>Branch net </a:t>
            </a:r>
            <a:r>
              <a:rPr lang="zh-CN" altLang="en-US" dirty="0"/>
              <a:t>里设置两个 </a:t>
            </a:r>
            <a:r>
              <a:rPr lang="en-US" altLang="zh-CN" dirty="0"/>
              <a:t>head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分别接收 </a:t>
            </a:r>
            <a:r>
              <a:rPr lang="en-US" altLang="zh-CN" dirty="0"/>
              <a:t>P </a:t>
            </a:r>
            <a:r>
              <a:rPr lang="zh-CN" altLang="en-US" dirty="0"/>
              <a:t>和 </a:t>
            </a:r>
            <a:r>
              <a:rPr lang="en-US" altLang="zh-CN" dirty="0"/>
              <a:t>f</a:t>
            </a:r>
            <a:r>
              <a:rPr lang="zh-CN" altLang="en-US" dirty="0"/>
              <a:t>，再融入同一个 </a:t>
            </a:r>
            <a:r>
              <a:rPr lang="en-US" altLang="zh-CN" dirty="0"/>
              <a:t>Branch body</a:t>
            </a:r>
          </a:p>
          <a:p>
            <a:r>
              <a:rPr lang="zh-CN" altLang="en-US" dirty="0"/>
              <a:t>得到</a:t>
            </a:r>
            <a:r>
              <a:rPr lang="en-US" altLang="zh-CN" dirty="0"/>
              <a:t>POD</a:t>
            </a:r>
            <a:r>
              <a:rPr lang="zh-CN" altLang="en-US" dirty="0"/>
              <a:t>系数。</a:t>
            </a:r>
            <a:endParaRPr lang="en-US" altLang="zh-CN" dirty="0"/>
          </a:p>
          <a:p>
            <a:r>
              <a:rPr lang="zh-CN" altLang="en-US" dirty="0"/>
              <a:t>需不需要换成卷积？需要融入一个</a:t>
            </a:r>
            <a:r>
              <a:rPr lang="en-US" altLang="zh-CN" dirty="0"/>
              <a:t>Branch body</a:t>
            </a:r>
            <a:r>
              <a:rPr lang="zh-CN" altLang="en-US" dirty="0"/>
              <a:t>吗？</a:t>
            </a:r>
            <a:endParaRPr lang="en-US" altLang="zh-CN" dirty="0"/>
          </a:p>
          <a:p>
            <a:r>
              <a:rPr lang="zh-CN" altLang="en-US" dirty="0"/>
              <a:t>还是设置两个 </a:t>
            </a:r>
            <a:r>
              <a:rPr lang="en-US" altLang="zh-CN" dirty="0"/>
              <a:t>Branch net</a:t>
            </a:r>
            <a:r>
              <a:rPr lang="zh-CN" altLang="en-US" dirty="0"/>
              <a:t> 使其共用一个 </a:t>
            </a:r>
            <a:r>
              <a:rPr lang="en-US" altLang="zh-CN" dirty="0"/>
              <a:t>Trunk net?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152B640-9467-6798-E899-05DB7901F153}"/>
              </a:ext>
            </a:extLst>
          </p:cNvPr>
          <p:cNvSpPr txBox="1"/>
          <p:nvPr/>
        </p:nvSpPr>
        <p:spPr>
          <a:xfrm>
            <a:off x="304800" y="4143027"/>
            <a:ext cx="4241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问题</a:t>
            </a:r>
            <a:r>
              <a:rPr lang="en-US" altLang="zh-CN" dirty="0"/>
              <a:t>2</a:t>
            </a:r>
            <a:r>
              <a:rPr lang="zh-CN" altLang="en-US" dirty="0"/>
              <a:t>：生成的 </a:t>
            </a:r>
            <a:r>
              <a:rPr lang="en-US" altLang="zh-CN" dirty="0"/>
              <a:t>P </a:t>
            </a:r>
            <a:r>
              <a:rPr lang="zh-CN" altLang="en-US" dirty="0"/>
              <a:t>和 </a:t>
            </a:r>
            <a:r>
              <a:rPr lang="en-US" altLang="zh-CN" dirty="0"/>
              <a:t>f </a:t>
            </a:r>
            <a:r>
              <a:rPr lang="zh-CN" altLang="en-US" dirty="0"/>
              <a:t>有比较显著的差异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C9D039B-340E-70DA-A63C-6C6F5E88007A}"/>
              </a:ext>
            </a:extLst>
          </p:cNvPr>
          <p:cNvSpPr txBox="1"/>
          <p:nvPr/>
        </p:nvSpPr>
        <p:spPr>
          <a:xfrm>
            <a:off x="304800" y="4810811"/>
            <a:ext cx="12117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导出查看用</a:t>
            </a:r>
            <a:r>
              <a:rPr lang="en-US" altLang="zh-CN" dirty="0"/>
              <a:t>BNN</a:t>
            </a:r>
            <a:r>
              <a:rPr lang="zh-CN" altLang="en-US" dirty="0"/>
              <a:t>构造的 </a:t>
            </a:r>
            <a:r>
              <a:rPr lang="en-US" altLang="zh-CN" dirty="0"/>
              <a:t>P </a:t>
            </a:r>
            <a:r>
              <a:rPr lang="zh-CN" altLang="en-US" dirty="0"/>
              <a:t>和 </a:t>
            </a:r>
            <a:r>
              <a:rPr lang="en-US" altLang="zh-CN" dirty="0"/>
              <a:t>f </a:t>
            </a:r>
            <a:r>
              <a:rPr lang="zh-CN" altLang="en-US" dirty="0"/>
              <a:t>的分布，发现两者在频域和值域上都有比较显著的差异，是否还能用同一组基函数表示？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7C3DF32-1EAC-F0DD-8C1D-21B146B6D91C}"/>
              </a:ext>
            </a:extLst>
          </p:cNvPr>
          <p:cNvSpPr txBox="1"/>
          <p:nvPr/>
        </p:nvSpPr>
        <p:spPr>
          <a:xfrm>
            <a:off x="304800" y="5478595"/>
            <a:ext cx="3188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选取</a:t>
            </a:r>
            <a:r>
              <a:rPr lang="en-US" altLang="zh-CN" dirty="0"/>
              <a:t>10</a:t>
            </a:r>
            <a:r>
              <a:rPr lang="zh-CN" altLang="en-US" dirty="0"/>
              <a:t>组分布图，下页展示。</a:t>
            </a:r>
          </a:p>
        </p:txBody>
      </p:sp>
    </p:spTree>
    <p:extLst>
      <p:ext uri="{BB962C8B-B14F-4D97-AF65-F5344CB8AC3E}">
        <p14:creationId xmlns:p14="http://schemas.microsoft.com/office/powerpoint/2010/main" val="3134097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0CAACF8-DFFE-64D8-8ED8-463D90B96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2" y="436006"/>
            <a:ext cx="3960000" cy="171450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7A0069B-0C7A-2E44-54E4-290EA96AE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362" y="452698"/>
            <a:ext cx="3960000" cy="169780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6EE0933-58E2-4B66-BC95-36932EF2C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638" y="463242"/>
            <a:ext cx="3960000" cy="168726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50FF873-B2CC-0D06-A4FD-C513D26048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43138"/>
            <a:ext cx="3960000" cy="176051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783A80D-1017-0386-E8EE-FA56279024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3362" y="2297463"/>
            <a:ext cx="3960000" cy="170619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0513F7A-53DF-15A0-0245-F4456AE3D2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8638" y="2315036"/>
            <a:ext cx="3960000" cy="168862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E479771-7A63-6C30-7CC0-0FDAA543FF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62" y="4096288"/>
            <a:ext cx="3960000" cy="166784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E3FB859-8037-24F6-4F2E-56909669DF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3362" y="4058361"/>
            <a:ext cx="3960000" cy="170577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69226030-95B9-8E22-33C6-71C68EF5A7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48638" y="4013399"/>
            <a:ext cx="3960000" cy="1750737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684D4E68-A780-7BEC-31CA-9558370B9BE0}"/>
              </a:ext>
            </a:extLst>
          </p:cNvPr>
          <p:cNvSpPr txBox="1"/>
          <p:nvPr/>
        </p:nvSpPr>
        <p:spPr>
          <a:xfrm>
            <a:off x="940575" y="5949438"/>
            <a:ext cx="108911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可以看出 </a:t>
            </a:r>
            <a:r>
              <a:rPr lang="en-US" altLang="zh-CN" dirty="0"/>
              <a:t>P(</a:t>
            </a:r>
            <a:r>
              <a:rPr lang="zh-CN" altLang="en-US" dirty="0"/>
              <a:t>图中的</a:t>
            </a:r>
            <a:r>
              <a:rPr lang="en-US" altLang="zh-CN" dirty="0"/>
              <a:t>u) </a:t>
            </a:r>
            <a:r>
              <a:rPr lang="zh-CN" altLang="en-US" dirty="0"/>
              <a:t>和 </a:t>
            </a:r>
            <a:r>
              <a:rPr lang="en-US" altLang="zh-CN" dirty="0"/>
              <a:t>f </a:t>
            </a:r>
            <a:r>
              <a:rPr lang="zh-CN" altLang="en-US" dirty="0"/>
              <a:t>的差异很大，</a:t>
            </a:r>
            <a:r>
              <a:rPr lang="en-US" altLang="zh-CN" dirty="0"/>
              <a:t>f </a:t>
            </a:r>
            <a:r>
              <a:rPr lang="zh-CN" altLang="en-US" dirty="0"/>
              <a:t>偏向高频波动且波动范围剧烈。尝试过通过将 </a:t>
            </a:r>
            <a:r>
              <a:rPr lang="en-US" altLang="zh-CN" dirty="0"/>
              <a:t>P </a:t>
            </a:r>
            <a:r>
              <a:rPr lang="zh-CN" altLang="en-US" dirty="0"/>
              <a:t>的值域进行放缩，</a:t>
            </a:r>
            <a:endParaRPr lang="en-US" altLang="zh-CN" dirty="0"/>
          </a:p>
          <a:p>
            <a:r>
              <a:rPr lang="zh-CN" altLang="en-US" dirty="0"/>
              <a:t>在训练时有一定的效果，但是效果不明显。</a:t>
            </a:r>
          </a:p>
        </p:txBody>
      </p:sp>
    </p:spTree>
    <p:extLst>
      <p:ext uri="{BB962C8B-B14F-4D97-AF65-F5344CB8AC3E}">
        <p14:creationId xmlns:p14="http://schemas.microsoft.com/office/powerpoint/2010/main" val="3630164433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261</Words>
  <Application>Microsoft Office PowerPoint</Application>
  <PresentationFormat>宽屏</PresentationFormat>
  <Paragraphs>26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 Math</vt:lpstr>
      <vt:lpstr>Source Code Pro SemiBold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Hollon HU</dc:creator>
  <cp:lastModifiedBy>Hollon HU</cp:lastModifiedBy>
  <cp:revision>12</cp:revision>
  <dcterms:created xsi:type="dcterms:W3CDTF">2023-08-09T12:44:00Z</dcterms:created>
  <dcterms:modified xsi:type="dcterms:W3CDTF">2026-04-23T08:45:10Z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5418F5B6156143A293F6D3B0C1435EFF_12</vt:lpwstr>
  </property>
</Properties>
</file>