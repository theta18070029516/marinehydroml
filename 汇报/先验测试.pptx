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258" r:id="rId4"/>
    <p:sldId id="259" r:id="rId5"/>
    <p:sldId id="260" r:id="rId6"/>
    <p:sldId id="261" r:id="rId7"/>
    <p:sldId id="263" r:id="rId8"/>
    <p:sldId id="265" r:id="rId9"/>
    <p:sldId id="267" r:id="rId10"/>
    <p:sldId id="268" r:id="rId11"/>
    <p:sldId id="269" r:id="rId12"/>
    <p:sldId id="270" r:id="rId13"/>
    <p:sldId id="272" r:id="rId14"/>
    <p:sldId id="274" r:id="rId15"/>
    <p:sldId id="27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9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1259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规则圆环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590675" y="1104900"/>
            <a:ext cx="2160000" cy="2160000"/>
            <a:chOff x="1638300" y="1085850"/>
            <a:chExt cx="1800000" cy="1800000"/>
          </a:xfrm>
        </p:grpSpPr>
        <p:sp>
          <p:nvSpPr>
            <p:cNvPr id="9" name="任意多边形: 形状 8"/>
            <p:cNvSpPr/>
            <p:nvPr/>
          </p:nvSpPr>
          <p:spPr>
            <a:xfrm>
              <a:off x="1638300" y="1085850"/>
              <a:ext cx="1800000" cy="1800000"/>
            </a:xfrm>
            <a:custGeom>
              <a:avLst/>
              <a:gdLst>
                <a:gd name="csX0" fmla="*/ 900000 w 1800000"/>
                <a:gd name="csY0" fmla="*/ 720000 h 1800000"/>
                <a:gd name="csX1" fmla="*/ 720000 w 1800000"/>
                <a:gd name="csY1" fmla="*/ 900000 h 1800000"/>
                <a:gd name="csX2" fmla="*/ 900000 w 1800000"/>
                <a:gd name="csY2" fmla="*/ 1080000 h 1800000"/>
                <a:gd name="csX3" fmla="*/ 1080000 w 1800000"/>
                <a:gd name="csY3" fmla="*/ 900000 h 1800000"/>
                <a:gd name="csX4" fmla="*/ 900000 w 1800000"/>
                <a:gd name="csY4" fmla="*/ 720000 h 1800000"/>
                <a:gd name="csX5" fmla="*/ 900000 w 1800000"/>
                <a:gd name="csY5" fmla="*/ 0 h 1800000"/>
                <a:gd name="csX6" fmla="*/ 1800000 w 1800000"/>
                <a:gd name="csY6" fmla="*/ 900000 h 1800000"/>
                <a:gd name="csX7" fmla="*/ 900000 w 1800000"/>
                <a:gd name="csY7" fmla="*/ 1800000 h 1800000"/>
                <a:gd name="csX8" fmla="*/ 0 w 1800000"/>
                <a:gd name="csY8" fmla="*/ 900000 h 1800000"/>
                <a:gd name="csX9" fmla="*/ 900000 w 1800000"/>
                <a:gd name="csY9" fmla="*/ 0 h 18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00000" h="1800000">
                  <a:moveTo>
                    <a:pt x="900000" y="720000"/>
                  </a:moveTo>
                  <a:cubicBezTo>
                    <a:pt x="800589" y="720000"/>
                    <a:pt x="720000" y="800589"/>
                    <a:pt x="720000" y="900000"/>
                  </a:cubicBezTo>
                  <a:cubicBezTo>
                    <a:pt x="720000" y="999411"/>
                    <a:pt x="800589" y="1080000"/>
                    <a:pt x="900000" y="1080000"/>
                  </a:cubicBezTo>
                  <a:cubicBezTo>
                    <a:pt x="999411" y="1080000"/>
                    <a:pt x="1080000" y="999411"/>
                    <a:pt x="1080000" y="900000"/>
                  </a:cubicBezTo>
                  <a:cubicBezTo>
                    <a:pt x="1080000" y="800589"/>
                    <a:pt x="999411" y="720000"/>
                    <a:pt x="900000" y="720000"/>
                  </a:cubicBezTo>
                  <a:close/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2358300" y="1805850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638300" y="1085850"/>
              <a:ext cx="1800000" cy="180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5400675" y="1300162"/>
                <a:ext cx="15965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75" y="1300162"/>
                <a:ext cx="1596527" cy="276999"/>
              </a:xfrm>
              <a:prstGeom prst="rect">
                <a:avLst/>
              </a:prstGeom>
              <a:blipFill rotWithShape="1">
                <a:blip r:embed="rId1"/>
                <a:stretch>
                  <a:fillRect t="-114" r="-310" b="-3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/>
          <p:cNvCxnSpPr/>
          <p:nvPr/>
        </p:nvCxnSpPr>
        <p:spPr>
          <a:xfrm>
            <a:off x="1018086" y="2184900"/>
            <a:ext cx="330517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2670673" y="627994"/>
            <a:ext cx="0" cy="31138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400675" y="1824900"/>
                <a:ext cx="112806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75" y="1824900"/>
                <a:ext cx="1128066" cy="526683"/>
              </a:xfrm>
              <a:prstGeom prst="rect">
                <a:avLst/>
              </a:prstGeom>
              <a:blipFill rotWithShape="1">
                <a:blip r:embed="rId2"/>
                <a:stretch>
                  <a:fillRect t="-103" r="2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/>
          <p:cNvCxnSpPr>
            <a:endCxn id="10" idx="1"/>
          </p:cNvCxnSpPr>
          <p:nvPr/>
        </p:nvCxnSpPr>
        <p:spPr>
          <a:xfrm flipH="1" flipV="1">
            <a:off x="2517940" y="2032165"/>
            <a:ext cx="152733" cy="15273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2498889" y="2018804"/>
            <a:ext cx="102596" cy="8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2445067" y="1803360"/>
                <a:ext cx="1457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067" y="1803360"/>
                <a:ext cx="145745" cy="215444"/>
              </a:xfrm>
              <a:prstGeom prst="rect">
                <a:avLst/>
              </a:prstGeom>
              <a:blipFill rotWithShape="1">
                <a:blip r:embed="rId3"/>
                <a:stretch>
                  <a:fillRect l="-218" t="-276" r="-12627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弧形 38"/>
          <p:cNvSpPr/>
          <p:nvPr/>
        </p:nvSpPr>
        <p:spPr>
          <a:xfrm rot="20602263">
            <a:off x="2492221" y="2097900"/>
            <a:ext cx="271073" cy="227544"/>
          </a:xfrm>
          <a:prstGeom prst="arc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2734087" y="2023893"/>
                <a:ext cx="11631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87" y="2023893"/>
                <a:ext cx="116314" cy="169277"/>
              </a:xfrm>
              <a:prstGeom prst="rect">
                <a:avLst/>
              </a:prstGeom>
              <a:blipFill rotWithShape="1">
                <a:blip r:embed="rId4"/>
                <a:stretch>
                  <a:fillRect l="-354" t="-87" r="-10471" b="3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7077075" y="1970031"/>
                <a:ext cx="772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075" y="1970031"/>
                <a:ext cx="772904" cy="276999"/>
              </a:xfrm>
              <a:prstGeom prst="rect">
                <a:avLst/>
              </a:prstGeom>
              <a:blipFill rotWithShape="1">
                <a:blip r:embed="rId5"/>
                <a:stretch>
                  <a:fillRect t="-94" r="-2451" b="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5400675" y="2681287"/>
                <a:ext cx="6308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75" y="2681287"/>
                <a:ext cx="630814" cy="276999"/>
              </a:xfrm>
              <a:prstGeom prst="rect">
                <a:avLst/>
              </a:prstGeom>
              <a:blipFill rotWithShape="1">
                <a:blip r:embed="rId6"/>
                <a:stretch>
                  <a:fillRect t="-114" r="-3180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6610750" y="2681287"/>
                <a:ext cx="772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750" y="2681287"/>
                <a:ext cx="772904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52" t="-114" r="-2399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4640499" y="3295340"/>
                <a:ext cx="3940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构造先验解空间：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𝑁𝑁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𝐵𝑁𝑁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499" y="3295340"/>
                <a:ext cx="3940502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4" t="-88" r="6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/>
          <p:cNvSpPr txBox="1"/>
          <p:nvPr/>
        </p:nvSpPr>
        <p:spPr>
          <a:xfrm>
            <a:off x="4640499" y="3874889"/>
            <a:ext cx="5570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注意：不能将 </a:t>
            </a:r>
            <a:r>
              <a:rPr lang="zh-CN" altLang="zh-CN" dirty="0"/>
              <a:t>Neumann boundary condition</a:t>
            </a:r>
            <a:r>
              <a:rPr lang="en-US" altLang="zh-CN" dirty="0"/>
              <a:t> </a:t>
            </a:r>
            <a:r>
              <a:rPr lang="zh-CN" altLang="en-US" dirty="0"/>
              <a:t>硬约束进先验空间，容易造成偏差。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125968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测试低频解的预测</a:t>
            </a:r>
            <a:r>
              <a:rPr lang="zh-CN" altLang="en-US" b="1" dirty="0">
                <a:solidFill>
                  <a:schemeClr val="bg1"/>
                </a:solidFill>
              </a:rPr>
              <a:t>效果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734820" y="2407285"/>
                <a:ext cx="815594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/>
                  <a:t>在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组成的先验空间，对每个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取</a:t>
                </a:r>
                <a:r>
                  <a:rPr lang="en-US" altLang="zh-CN"/>
                  <a:t> 128 </a:t>
                </a:r>
                <a:r>
                  <a:rPr lang="zh-CN" altLang="en-US"/>
                  <a:t>个样本进行测试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820" y="2407285"/>
                <a:ext cx="815594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80" y="2914650"/>
            <a:ext cx="6896100" cy="5143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468880" y="3676015"/>
            <a:ext cx="5021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误差在</a:t>
            </a:r>
            <a:r>
              <a:rPr lang="en-US" altLang="zh-CN"/>
              <a:t>1%</a:t>
            </a:r>
            <a:r>
              <a:rPr lang="zh-CN" altLang="en-US"/>
              <a:t>左右，应该不是低频解不足的</a:t>
            </a:r>
            <a:r>
              <a:rPr lang="zh-CN" altLang="en-US"/>
              <a:t>原因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9115"/>
            <a:ext cx="6068317" cy="32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1809115"/>
            <a:ext cx="6068317" cy="3240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预测</a:t>
            </a:r>
            <a:r>
              <a:rPr lang="zh-CN" altLang="en-US" b="1" dirty="0">
                <a:solidFill>
                  <a:schemeClr val="bg1"/>
                </a:solidFill>
              </a:rPr>
              <a:t>效果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268720" y="495300"/>
            <a:ext cx="0" cy="5867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预测</a:t>
            </a:r>
            <a:r>
              <a:rPr lang="zh-CN" altLang="en-US" b="1" dirty="0">
                <a:solidFill>
                  <a:schemeClr val="bg1"/>
                </a:solidFill>
              </a:rPr>
              <a:t>效果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9115"/>
            <a:ext cx="6068317" cy="324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940" y="1809115"/>
            <a:ext cx="6068317" cy="324000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6268720" y="495300"/>
            <a:ext cx="0" cy="5867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预测</a:t>
            </a:r>
            <a:r>
              <a:rPr lang="zh-CN" altLang="en-US" b="1" dirty="0">
                <a:solidFill>
                  <a:schemeClr val="bg1"/>
                </a:solidFill>
              </a:rPr>
              <a:t>效果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9115"/>
            <a:ext cx="6068317" cy="32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40" y="1809115"/>
            <a:ext cx="6068317" cy="324000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6268720" y="495300"/>
            <a:ext cx="0" cy="5867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对边界条件</a:t>
            </a:r>
            <a:r>
              <a:rPr lang="zh-CN" altLang="en-US" b="1" dirty="0">
                <a:solidFill>
                  <a:schemeClr val="bg1"/>
                </a:solidFill>
              </a:rPr>
              <a:t>测试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44780" y="692150"/>
                <a:ext cx="1034351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对原有先验空间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pitchFamily="18" charset="0"/>
                  </a:rPr>
                  <a:t>采样，并对诺伊曼边界条件组成的先验空间与</a:t>
                </a:r>
                <a:r>
                  <a:rPr lang="en-US" altLang="zh-CN"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pitchFamily="18" charset="0"/>
                  </a:rPr>
                  <a:t>的差异进行分析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" y="692150"/>
                <a:ext cx="10343515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" y="1101725"/>
            <a:ext cx="5143500" cy="5219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650" y="1459865"/>
            <a:ext cx="6737350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对边界条件</a:t>
            </a:r>
            <a:r>
              <a:rPr lang="zh-CN" altLang="en-US" b="1" dirty="0">
                <a:solidFill>
                  <a:schemeClr val="bg1"/>
                </a:solidFill>
              </a:rPr>
              <a:t>测试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617855"/>
            <a:ext cx="10744200" cy="2676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20" y="3517900"/>
            <a:ext cx="630936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对边界条件</a:t>
            </a:r>
            <a:r>
              <a:rPr lang="zh-CN" altLang="en-US" b="1" dirty="0">
                <a:solidFill>
                  <a:schemeClr val="bg1"/>
                </a:solidFill>
              </a:rPr>
              <a:t>测试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35255" y="622300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指标</a:t>
                </a:r>
                <a:r>
                  <a:rPr lang="en-US" altLang="zh-CN"/>
                  <a:t>1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/>
                  <a:t>投影系数</a:t>
                </a:r>
                <a:endParaRPr lang="zh-CN" altLang="en-US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55" y="622300"/>
                <a:ext cx="406400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16976" y="475234"/>
                <a:ext cx="5135880" cy="6629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𝑐𝑜𝑠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)&gt;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&lt;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),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)&gt;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976" y="475234"/>
                <a:ext cx="5135880" cy="662940"/>
              </a:xfrm>
              <a:prstGeom prst="rect">
                <a:avLst/>
              </a:prstGeom>
              <a:blipFill rotWithShape="1">
                <a:blip r:embed="rId2"/>
                <a:stretch>
                  <a:fillRect l="-11" t="-38" r="1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135255" y="1989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指标</a:t>
            </a:r>
            <a:r>
              <a:rPr lang="en-US" altLang="zh-CN"/>
              <a:t>2 </a:t>
            </a:r>
            <a:r>
              <a:rPr lang="zh-CN" altLang="en-US"/>
              <a:t>最优放缩后</a:t>
            </a:r>
            <a:r>
              <a:rPr lang="zh-CN" altLang="en-US"/>
              <a:t>残差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783016" y="1784604"/>
                <a:ext cx="5109845" cy="6623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𝑠ℎ𝑎𝑝𝑒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||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𝑐𝑜𝑠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||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16" y="1784604"/>
                <a:ext cx="5109845" cy="662305"/>
              </a:xfrm>
              <a:prstGeom prst="rect">
                <a:avLst/>
              </a:prstGeom>
              <a:blipFill rotWithShape="1">
                <a:blip r:embed="rId3"/>
                <a:stretch>
                  <a:fillRect l="-11" t="-38" r="1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2590800"/>
            <a:ext cx="10639425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对边界条件</a:t>
            </a:r>
            <a:r>
              <a:rPr lang="zh-CN" altLang="en-US" b="1" dirty="0">
                <a:solidFill>
                  <a:schemeClr val="bg1"/>
                </a:solidFill>
              </a:rPr>
              <a:t>测试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20" y="1528445"/>
            <a:ext cx="10601325" cy="3800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对边界条件</a:t>
            </a:r>
            <a:r>
              <a:rPr lang="zh-CN" altLang="en-US" b="1" dirty="0">
                <a:solidFill>
                  <a:schemeClr val="bg1"/>
                </a:solidFill>
              </a:rPr>
              <a:t>测试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0" y="895350"/>
            <a:ext cx="68199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对边界条件</a:t>
            </a:r>
            <a:r>
              <a:rPr lang="zh-CN" altLang="en-US" b="1" dirty="0">
                <a:solidFill>
                  <a:schemeClr val="bg1"/>
                </a:solidFill>
              </a:rPr>
              <a:t>测试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5520"/>
            <a:ext cx="5922645" cy="4886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025" y="857250"/>
            <a:ext cx="64039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微调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330" y="716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生成一批</a:t>
            </a:r>
            <a:r>
              <a:rPr lang="en-US" altLang="zh-CN"/>
              <a:t>“</a:t>
            </a:r>
            <a:r>
              <a:rPr lang="zh-CN" altLang="en-US"/>
              <a:t>更合理</a:t>
            </a:r>
            <a:r>
              <a:rPr lang="en-US" altLang="zh-CN"/>
              <a:t>”</a:t>
            </a:r>
            <a:r>
              <a:rPr lang="zh-CN" altLang="en-US"/>
              <a:t>边界条件</a:t>
            </a:r>
            <a:r>
              <a:rPr lang="zh-CN" altLang="en-US"/>
              <a:t>样本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640080" y="1390967"/>
                <a:ext cx="15965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90967"/>
                <a:ext cx="1596527" cy="276999"/>
              </a:xfrm>
              <a:prstGeom prst="rect">
                <a:avLst/>
              </a:prstGeom>
              <a:blipFill rotWithShape="1">
                <a:blip r:embed="rId1"/>
                <a:stretch>
                  <a:fillRect t="-114" r="-310" b="-3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2623185" y="2060836"/>
                <a:ext cx="1057275" cy="283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altLang="zh-CN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185" y="2060836"/>
                <a:ext cx="1057275" cy="283845"/>
              </a:xfrm>
              <a:prstGeom prst="rect">
                <a:avLst/>
              </a:prstGeom>
              <a:blipFill rotWithShape="1">
                <a:blip r:embed="rId2"/>
                <a:stretch>
                  <a:fillRect t="-92" r="-601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640080" y="2772092"/>
                <a:ext cx="6308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772092"/>
                <a:ext cx="630814" cy="276999"/>
              </a:xfrm>
              <a:prstGeom prst="rect">
                <a:avLst/>
              </a:prstGeom>
              <a:blipFill rotWithShape="1">
                <a:blip r:embed="rId3"/>
                <a:stretch>
                  <a:fillRect t="-114" r="-3180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1850155" y="2772092"/>
                <a:ext cx="1204595" cy="283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altLang="zh-CN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55" y="2772092"/>
                <a:ext cx="1204595" cy="283210"/>
              </a:xfrm>
              <a:prstGeom prst="rect">
                <a:avLst/>
              </a:prstGeom>
              <a:blipFill rotWithShape="1">
                <a:blip r:embed="rId4"/>
                <a:stretch>
                  <a:fillRect l="-33" t="-112" r="-863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807396" y="1970024"/>
                <a:ext cx="128270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~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𝑁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96" y="1970024"/>
                <a:ext cx="1282700" cy="368300"/>
              </a:xfrm>
              <a:prstGeom prst="rect">
                <a:avLst/>
              </a:prstGeom>
              <a:blipFill rotWithShape="1">
                <a:blip r:embed="rId5"/>
                <a:stretch>
                  <a:fillRect l="-45" t="-69" r="4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-60389" y="2036064"/>
                <a:ext cx="28371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𝛼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389" y="2036064"/>
                <a:ext cx="2837180" cy="368300"/>
              </a:xfrm>
              <a:prstGeom prst="rect">
                <a:avLst/>
              </a:prstGeom>
              <a:blipFill rotWithShape="1">
                <a:blip r:embed="rId6"/>
                <a:stretch>
                  <a:fillRect l="2" t="-69" r="2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040306" y="795274"/>
                <a:ext cx="280098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𝛼𝜓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306" y="795274"/>
                <a:ext cx="2800985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20" t="-69" r="2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614856" y="1390904"/>
                <a:ext cx="365188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𝜓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𝑘𝑟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𝑘𝑟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856" y="1390904"/>
                <a:ext cx="3651885" cy="368300"/>
              </a:xfrm>
              <a:prstGeom prst="rect">
                <a:avLst/>
              </a:prstGeom>
              <a:blipFill rotWithShape="1">
                <a:blip r:embed="rId8"/>
                <a:stretch>
                  <a:fillRect l="-16" t="-69" r="1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730426" y="1986534"/>
                <a:ext cx="34207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𝛽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426" y="1986534"/>
                <a:ext cx="3420745" cy="368300"/>
              </a:xfrm>
              <a:prstGeom prst="rect">
                <a:avLst/>
              </a:prstGeom>
              <a:blipFill rotWithShape="1">
                <a:blip r:embed="rId9"/>
                <a:stretch>
                  <a:fillRect l="-17" t="-69" r="1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7301166" y="2654554"/>
                <a:ext cx="4438650" cy="6769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’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𝛽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’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)]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166" y="2654554"/>
                <a:ext cx="4438650" cy="676910"/>
              </a:xfrm>
              <a:prstGeom prst="rect">
                <a:avLst/>
              </a:prstGeom>
              <a:blipFill rotWithShape="1">
                <a:blip r:embed="rId10"/>
                <a:stretch>
                  <a:fillRect l="-13" t="-38" r="13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/>
          <p:cNvCxnSpPr/>
          <p:nvPr/>
        </p:nvCxnSpPr>
        <p:spPr>
          <a:xfrm flipV="1">
            <a:off x="8211820" y="2413635"/>
            <a:ext cx="2505075" cy="1016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8080375" y="3426460"/>
            <a:ext cx="2959735" cy="57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右箭头 18"/>
          <p:cNvSpPr/>
          <p:nvPr/>
        </p:nvSpPr>
        <p:spPr>
          <a:xfrm>
            <a:off x="5676900" y="1928495"/>
            <a:ext cx="1616075" cy="565785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949950" y="2029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理论</a:t>
            </a:r>
            <a:r>
              <a:rPr lang="zh-CN" altLang="en-US"/>
              <a:t>解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0266" y="4254754"/>
            <a:ext cx="42329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/>
              <a:t>新样本在已有</a:t>
            </a:r>
            <a:r>
              <a:rPr lang="en-US" altLang="zh-CN"/>
              <a:t> DeepONet </a:t>
            </a:r>
            <a:r>
              <a:rPr lang="zh-CN" altLang="en-US"/>
              <a:t>上的重构</a:t>
            </a:r>
            <a:r>
              <a:rPr lang="zh-CN" altLang="en-US"/>
              <a:t>效果：</a:t>
            </a:r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225" y="4933950"/>
            <a:ext cx="3533775" cy="8477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6555" y="4028440"/>
            <a:ext cx="5050790" cy="2243455"/>
          </a:xfrm>
          <a:prstGeom prst="rect">
            <a:avLst/>
          </a:prstGeom>
        </p:spPr>
      </p:pic>
      <p:cxnSp>
        <p:nvCxnSpPr>
          <p:cNvPr id="24" name="直接连接符 23"/>
          <p:cNvCxnSpPr/>
          <p:nvPr/>
        </p:nvCxnSpPr>
        <p:spPr>
          <a:xfrm>
            <a:off x="-9525" y="3837940"/>
            <a:ext cx="12201525" cy="1524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微调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095" y="666750"/>
            <a:ext cx="914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在原有</a:t>
            </a:r>
            <a:r>
              <a:rPr lang="en-US" altLang="zh-CN"/>
              <a:t>transformer</a:t>
            </a:r>
            <a:r>
              <a:rPr lang="zh-CN" altLang="en-US"/>
              <a:t>基础上，微调</a:t>
            </a:r>
            <a:r>
              <a:rPr lang="en-US" altLang="zh-CN"/>
              <a:t>5000</a:t>
            </a:r>
            <a:r>
              <a:rPr lang="zh-CN" altLang="en-US"/>
              <a:t>步后（</a:t>
            </a:r>
            <a:r>
              <a:rPr lang="en-US" altLang="zh-CN"/>
              <a:t>900</a:t>
            </a:r>
            <a:r>
              <a:rPr lang="zh-CN" altLang="en-US"/>
              <a:t>个样本用于训练，</a:t>
            </a:r>
            <a:r>
              <a:rPr lang="en-US" altLang="zh-CN"/>
              <a:t>100</a:t>
            </a:r>
            <a:r>
              <a:rPr lang="zh-CN" altLang="en-US"/>
              <a:t>个样本是验证</a:t>
            </a:r>
            <a:r>
              <a:rPr lang="zh-CN" altLang="en-US"/>
              <a:t>集）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5" y="1518285"/>
            <a:ext cx="3562350" cy="1800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755" y="1094105"/>
            <a:ext cx="5757545" cy="26492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13810"/>
            <a:ext cx="8998585" cy="2479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25968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微调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0" y="798195"/>
            <a:ext cx="7058025" cy="26308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70815" y="635635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对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的预测效果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5" y="635635"/>
                <a:ext cx="406400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70" y="4067175"/>
            <a:ext cx="7753985" cy="20631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0815" y="19297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新样本微调</a:t>
            </a:r>
            <a:r>
              <a:rPr lang="en-US" altLang="zh-CN"/>
              <a:t> transformer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70815" y="47828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物理约束微调</a:t>
            </a:r>
            <a:r>
              <a:rPr lang="en-US" altLang="zh-CN"/>
              <a:t> </a:t>
            </a:r>
            <a:r>
              <a:rPr lang="zh-CN" altLang="en-US"/>
              <a:t>系数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WPS 演示</Application>
  <PresentationFormat>宽屏</PresentationFormat>
  <Paragraphs>94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Cambria Math</vt:lpstr>
      <vt:lpstr>MS Mincho</vt:lpstr>
      <vt:lpstr>Segoe Print</vt:lpstr>
      <vt:lpstr>微软雅黑</vt:lpstr>
      <vt:lpstr>Calibri</vt:lpstr>
      <vt:lpstr>Arial Unicode MS</vt:lpstr>
      <vt:lpstr>Ms.Luce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Hollon HU</dc:creator>
  <cp:lastModifiedBy>北海初心</cp:lastModifiedBy>
  <cp:revision>7</cp:revision>
  <dcterms:created xsi:type="dcterms:W3CDTF">2023-08-09T12:44:00Z</dcterms:created>
  <dcterms:modified xsi:type="dcterms:W3CDTF">2026-06-25T03:33:40Z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BDC633B24A994D9E8AF14E2F738DE034_12</vt:lpwstr>
  </property>
</Properties>
</file>